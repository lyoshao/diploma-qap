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omfortaa" panose="020B0604020202020204" charset="0"/>
      <p:regular r:id="rId11"/>
      <p:bold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-52"/>
      <p:regular r:id="rId17"/>
      <p:bold r:id="rId18"/>
      <p:italic r:id="rId19"/>
      <p:boldItalic r:id="rId20"/>
    </p:embeddedFont>
    <p:embeddedFont>
      <p:font typeface="Raleway" pitchFamily="2" charset="-52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/qCpv9ToHMq5iVO6AhPAWl5Z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7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bd3e5c4b55_0_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2bd3e5c4b5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463cab762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g24463cab7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463cab762_0_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g24463cab76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9b3813896_1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g2d9b3813896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d3e5c4b55_0_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2bd3e5c4b5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c48e537c7_0_2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2bc48e537c7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463cab762_0_1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g24463cab76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b3813896_1_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2d9b381389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143000" y="841771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1143000" y="2701527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623887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623887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629841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1"/>
          </p:nvPr>
        </p:nvSpPr>
        <p:spPr>
          <a:xfrm>
            <a:off x="629841" y="1260871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body" idx="2"/>
          </p:nvPr>
        </p:nvSpPr>
        <p:spPr>
          <a:xfrm>
            <a:off x="4629149" y="1260871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1"/>
          </p:nvPr>
        </p:nvSpPr>
        <p:spPr>
          <a:xfrm>
            <a:off x="3887391" y="740568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2"/>
          </p:nvPr>
        </p:nvSpPr>
        <p:spPr>
          <a:xfrm>
            <a:off x="629840" y="1543049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>
            <a:spLocks noGrp="1"/>
          </p:cNvSpPr>
          <p:nvPr>
            <p:ph type="pic" idx="2"/>
          </p:nvPr>
        </p:nvSpPr>
        <p:spPr>
          <a:xfrm>
            <a:off x="3887391" y="740568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>
  <p:cSld name="TITLE_AND_BODY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900">
              <a:solidFill>
                <a:srgbClr val="888888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c2e29e70e6_0_929"/>
          <p:cNvSpPr txBox="1">
            <a:spLocks noGrp="1"/>
          </p:cNvSpPr>
          <p:nvPr>
            <p:ph type="title"/>
          </p:nvPr>
        </p:nvSpPr>
        <p:spPr>
          <a:xfrm>
            <a:off x="729360" y="1318680"/>
            <a:ext cx="7688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1c2e29e70e6_0_929"/>
          <p:cNvSpPr txBox="1">
            <a:spLocks noGrp="1"/>
          </p:cNvSpPr>
          <p:nvPr>
            <p:ph type="body" idx="1"/>
          </p:nvPr>
        </p:nvSpPr>
        <p:spPr>
          <a:xfrm>
            <a:off x="729360" y="2079000"/>
            <a:ext cx="7688400" cy="22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12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2bd3e5c4b55_0_61" descr="Рисунок 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05"/>
            <a:ext cx="9143999" cy="514028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2bd3e5c4b55_0_61"/>
          <p:cNvSpPr txBox="1"/>
          <p:nvPr/>
        </p:nvSpPr>
        <p:spPr>
          <a:xfrm>
            <a:off x="217625" y="2571750"/>
            <a:ext cx="42681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sz="300" b="1" dirty="0"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18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Автоматизация тестов для проверки работоспособности сайта wildberries.by</a:t>
            </a:r>
            <a:endParaRPr sz="1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8" name="Google Shape;58;g2bd3e5c4b55_0_61" descr="Рисунок 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5735" y="1605"/>
            <a:ext cx="46582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2bd3e5c4b55_0_61" descr="Рисунок 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818" y="1"/>
            <a:ext cx="1084422" cy="13744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2bd3e5c4b55_0_61"/>
          <p:cNvSpPr txBox="1"/>
          <p:nvPr/>
        </p:nvSpPr>
        <p:spPr>
          <a:xfrm>
            <a:off x="304025" y="4594100"/>
            <a:ext cx="1658339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dirty="0">
                <a:solidFill>
                  <a:schemeClr val="dk1"/>
                </a:solidFill>
              </a:rPr>
              <a:t>Aliaksei Kryvenok</a:t>
            </a:r>
            <a:endParaRPr sz="1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2bd3e5c4b55_0_61"/>
          <p:cNvSpPr txBox="1"/>
          <p:nvPr/>
        </p:nvSpPr>
        <p:spPr>
          <a:xfrm>
            <a:off x="304025" y="1054611"/>
            <a:ext cx="37563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2100" b="1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Дипломная работа</a:t>
            </a:r>
            <a:endParaRPr sz="1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4463cab762_0_1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24463cab762_0_1"/>
          <p:cNvSpPr/>
          <p:nvPr/>
        </p:nvSpPr>
        <p:spPr>
          <a:xfrm>
            <a:off x="720000" y="0"/>
            <a:ext cx="77352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24463cab762_0_1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fld>
            <a:endParaRPr/>
          </a:p>
        </p:txBody>
      </p:sp>
      <p:grpSp>
        <p:nvGrpSpPr>
          <p:cNvPr id="69" name="Google Shape;69;g24463cab762_0_1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70" name="Google Shape;70;g24463cab762_0_1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g24463cab762_0_1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" name="Google Shape;72;g24463cab762_0_1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" name="Google Shape;73;g24463cab762_0_1"/>
          <p:cNvSpPr txBox="1">
            <a:spLocks noGrp="1"/>
          </p:cNvSpPr>
          <p:nvPr>
            <p:ph type="title"/>
          </p:nvPr>
        </p:nvSpPr>
        <p:spPr>
          <a:xfrm>
            <a:off x="719998" y="134344"/>
            <a:ext cx="7364575" cy="50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Описание проекта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24463cab762_0_1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4463cab762_0_1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4463cab762_0_1"/>
          <p:cNvSpPr txBox="1"/>
          <p:nvPr/>
        </p:nvSpPr>
        <p:spPr>
          <a:xfrm>
            <a:off x="719999" y="589404"/>
            <a:ext cx="7364575" cy="4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88038"/>
                </a:solidFill>
              </a:rPr>
              <a:t>Проект </a:t>
            </a:r>
            <a:r>
              <a:rPr lang="ru-RU" sz="1200" dirty="0">
                <a:solidFill>
                  <a:schemeClr val="tx1"/>
                </a:solidFill>
              </a:rPr>
              <a:t>предназначен для автоматизированного тестирования веб-сайта wildberries.by.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88038"/>
                </a:solidFill>
              </a:rPr>
              <a:t>Основная цель </a:t>
            </a:r>
            <a:r>
              <a:rPr lang="ru-RU" sz="1200" dirty="0">
                <a:solidFill>
                  <a:schemeClr val="tx1"/>
                </a:solidFill>
              </a:rPr>
              <a:t>- автоматизация проверки ключевых функциональностей: навигация, поиск товаров, работа с каталогом и карточкой товара.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200" dirty="0">
              <a:solidFill>
                <a:schemeClr val="tx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Для реализации проекта использовались современные подходы к разработке тестовых фреймворков: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b="1" dirty="0">
                <a:solidFill>
                  <a:schemeClr val="dk1"/>
                </a:solidFill>
              </a:rPr>
              <a:t>Page Object Pattern (POM) </a:t>
            </a:r>
            <a:r>
              <a:rPr lang="en-US" sz="1200" dirty="0">
                <a:solidFill>
                  <a:schemeClr val="dk1"/>
                </a:solidFill>
              </a:rPr>
              <a:t>- каждая ст</a:t>
            </a:r>
            <a:r>
              <a:rPr lang="ru-RU" sz="1200" dirty="0">
                <a:solidFill>
                  <a:schemeClr val="dk1"/>
                </a:solidFill>
              </a:rPr>
              <a:t>р</a:t>
            </a:r>
            <a:r>
              <a:rPr lang="en-US" sz="1200" dirty="0">
                <a:solidFill>
                  <a:schemeClr val="dk1"/>
                </a:solidFill>
              </a:rPr>
              <a:t>аница представлена отдельным классом.</a:t>
            </a:r>
            <a:endParaRPr lang="ru-RU" sz="1200" dirty="0">
              <a:solidFill>
                <a:schemeClr val="dk1"/>
              </a:solidFill>
            </a:endParaRPr>
          </a:p>
          <a:p>
            <a:pPr marL="5400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MainPage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>
                <a:solidFill>
                  <a:srgbClr val="188038"/>
                </a:solidFill>
              </a:rPr>
              <a:t>SearchPage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>
                <a:solidFill>
                  <a:srgbClr val="188038"/>
                </a:solidFill>
              </a:rPr>
              <a:t>ProductPage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ru-RU" sz="1200" dirty="0">
                <a:solidFill>
                  <a:schemeClr val="tx1"/>
                </a:solidFill>
              </a:rPr>
              <a:t>главная страница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результаты поиска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карточка товара)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r>
              <a:rPr lang="en-US" sz="1200" dirty="0">
                <a:solidFill>
                  <a:srgbClr val="188038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Это позволяет отделить логику работы со страницей от тестовой логики, улучшая читаемость и поддержку кода.</a:t>
            </a:r>
            <a:endParaRPr sz="1200" dirty="0">
              <a:solidFill>
                <a:schemeClr val="dk1"/>
              </a:solidFill>
            </a:endParaRPr>
          </a:p>
          <a:p>
            <a:pPr marL="5400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BasePage </a:t>
            </a:r>
            <a:r>
              <a:rPr lang="en-US" sz="1200" dirty="0">
                <a:solidFill>
                  <a:schemeClr val="dk1"/>
                </a:solidFill>
              </a:rPr>
              <a:t>–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базовый класс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содержит общие методы для взаимодействия с элементами (клики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ввод текста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ожидание видимости элементов)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. Это позволяет избежать дублирования кода и облегчает реализацию новых страниц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100" dirty="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9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dirty="0">
                <a:solidFill>
                  <a:schemeClr val="dk1"/>
                </a:solidFill>
              </a:rPr>
            </a:br>
            <a:endParaRPr sz="900" dirty="0">
              <a:solidFill>
                <a:schemeClr val="dk1"/>
              </a:solidFill>
            </a:endParaRPr>
          </a:p>
        </p:txBody>
      </p:sp>
      <p:pic>
        <p:nvPicPr>
          <p:cNvPr id="77" name="Google Shape;77;g24463cab762_0_1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4574" y="0"/>
            <a:ext cx="1058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24463cab762_0_76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4463cab762_0_76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24463cab762_0_76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fld>
            <a:endParaRPr/>
          </a:p>
        </p:txBody>
      </p:sp>
      <p:grpSp>
        <p:nvGrpSpPr>
          <p:cNvPr id="85" name="Google Shape;85;g24463cab762_0_76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86" name="Google Shape;86;g24463cab762_0_76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" name="Google Shape;87;g24463cab762_0_76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" name="Google Shape;88;g24463cab762_0_76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9" name="Google Shape;89;g24463cab762_0_76"/>
          <p:cNvSpPr txBox="1">
            <a:spLocks noGrp="1"/>
          </p:cNvSpPr>
          <p:nvPr>
            <p:ph type="title"/>
          </p:nvPr>
        </p:nvSpPr>
        <p:spPr>
          <a:xfrm>
            <a:off x="719998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Чек-лист для проекта wildberries.by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4463cab762_0_76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4463cab762_0_76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4463cab762_0_76"/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1. </a:t>
            </a:r>
            <a:r>
              <a:rPr lang="ru-RU" sz="1200" b="1" dirty="0">
                <a:solidFill>
                  <a:schemeClr val="dk1"/>
                </a:solidFill>
              </a:rPr>
              <a:t>Тестирование пользовательского интерфейса </a:t>
            </a:r>
            <a:r>
              <a:rPr lang="en-US" sz="1200" b="1" dirty="0">
                <a:solidFill>
                  <a:schemeClr val="dk1"/>
                </a:solidFill>
              </a:rPr>
              <a:t>(UI)</a:t>
            </a:r>
            <a:endParaRPr sz="1200" b="1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Поиск товаров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r>
              <a:rPr lang="ru-RU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dk1"/>
                </a:solidFill>
              </a:rPr>
              <a:t>ввод товара в поисковую строку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переход на страницу результатов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наличие товаров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r>
              <a:rPr lang="ru-RU" sz="1200" dirty="0">
                <a:solidFill>
                  <a:schemeClr val="dk1"/>
                </a:solidFill>
              </a:rPr>
              <a:t> </a:t>
            </a:r>
            <a:endParaRPr lang="en-US" sz="1200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Фильтры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открытие панели фильтров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отображение доступных фильтров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Автодополнение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ввод части названия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появление подсказок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lang="en-US"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1" dirty="0">
                <a:solidFill>
                  <a:schemeClr val="dk1"/>
                </a:solidFill>
              </a:rPr>
              <a:t>2. Каталог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endParaRPr lang="ru-RU" sz="1200" b="1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Открытие каталога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нажатие на кнопку </a:t>
            </a:r>
            <a:r>
              <a:rPr lang="en-US" sz="1200" dirty="0">
                <a:solidFill>
                  <a:schemeClr val="dk1"/>
                </a:solidFill>
              </a:rPr>
              <a:t>“</a:t>
            </a:r>
            <a:r>
              <a:rPr lang="ru-RU" sz="1200" dirty="0">
                <a:solidFill>
                  <a:schemeClr val="dk1"/>
                </a:solidFill>
              </a:rPr>
              <a:t>Каталог</a:t>
            </a:r>
            <a:r>
              <a:rPr lang="en-US" sz="1200" dirty="0">
                <a:solidFill>
                  <a:schemeClr val="dk1"/>
                </a:solidFill>
              </a:rPr>
              <a:t>”, </a:t>
            </a:r>
            <a:r>
              <a:rPr lang="ru-RU" sz="1200" dirty="0">
                <a:solidFill>
                  <a:schemeClr val="dk1"/>
                </a:solidFill>
              </a:rPr>
              <a:t>отображение категорий и подкатегорий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Навигация по категориям: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dk1"/>
                </a:solidFill>
              </a:rPr>
              <a:t>клик по категориям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отображение подкатегорий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chemeClr val="dk1"/>
              </a:buClr>
              <a:buSzPts val="900"/>
            </a:pPr>
            <a:r>
              <a:rPr lang="en-US" sz="1200" b="1" dirty="0">
                <a:solidFill>
                  <a:schemeClr val="dk1"/>
                </a:solidFill>
              </a:rPr>
              <a:t>3</a:t>
            </a:r>
            <a:r>
              <a:rPr lang="ru-RU" sz="1200" b="1" dirty="0">
                <a:solidFill>
                  <a:schemeClr val="dk1"/>
                </a:solidFill>
              </a:rPr>
              <a:t>. Карточка товара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endParaRPr lang="ru-RU" sz="1200" b="1" dirty="0">
              <a:solidFill>
                <a:schemeClr val="dk1"/>
              </a:solidFill>
            </a:endParaRP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Информация о товаре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название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цена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описание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ru-RU" sz="1200" dirty="0">
                <a:solidFill>
                  <a:schemeClr val="dk1"/>
                </a:solidFill>
              </a:rPr>
              <a:t>характеристики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изображения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рейтинг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отзывы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ru-RU" sz="1200" dirty="0">
                <a:solidFill>
                  <a:schemeClr val="dk1"/>
                </a:solidFill>
              </a:rPr>
              <a:t>продавец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доставка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Добавление в корзину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нажатие на кнопку </a:t>
            </a:r>
            <a:r>
              <a:rPr lang="en-US" sz="1200" dirty="0">
                <a:solidFill>
                  <a:schemeClr val="dk1"/>
                </a:solidFill>
              </a:rPr>
              <a:t>“</a:t>
            </a:r>
            <a:r>
              <a:rPr lang="ru-RU" sz="1200" dirty="0">
                <a:solidFill>
                  <a:schemeClr val="dk1"/>
                </a:solidFill>
              </a:rPr>
              <a:t>Добавить в корзину</a:t>
            </a:r>
            <a:r>
              <a:rPr lang="en-US" sz="1200" dirty="0">
                <a:solidFill>
                  <a:schemeClr val="dk1"/>
                </a:solidFill>
              </a:rPr>
              <a:t>”, </a:t>
            </a:r>
            <a:r>
              <a:rPr lang="ru-RU" sz="1200" dirty="0">
                <a:solidFill>
                  <a:schemeClr val="dk1"/>
                </a:solidFill>
              </a:rPr>
              <a:t>обновление корзины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Избранное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отображение кнопки</a:t>
            </a:r>
            <a:r>
              <a:rPr lang="en-US" sz="1200" dirty="0">
                <a:solidFill>
                  <a:schemeClr val="dk1"/>
                </a:solidFill>
              </a:rPr>
              <a:t> “</a:t>
            </a:r>
            <a:r>
              <a:rPr lang="ru-RU" sz="1200" dirty="0">
                <a:solidFill>
                  <a:schemeClr val="dk1"/>
                </a:solidFill>
              </a:rPr>
              <a:t>Добавить в избранное</a:t>
            </a:r>
            <a:r>
              <a:rPr lang="en-US" sz="1200" dirty="0">
                <a:solidFill>
                  <a:schemeClr val="dk1"/>
                </a:solidFill>
              </a:rPr>
              <a:t>”.</a:t>
            </a:r>
            <a:endParaRPr lang="ru-RU" sz="1200" b="1" dirty="0">
              <a:solidFill>
                <a:schemeClr val="dk1"/>
              </a:solidFill>
            </a:endParaRPr>
          </a:p>
          <a:p>
            <a:pPr marL="171450"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</a:pPr>
            <a:endParaRPr lang="ru-RU" sz="1200" b="1" dirty="0">
              <a:solidFill>
                <a:schemeClr val="dk1"/>
              </a:solidFill>
            </a:endParaRPr>
          </a:p>
        </p:txBody>
      </p:sp>
      <p:pic>
        <p:nvPicPr>
          <p:cNvPr id="93" name="Google Shape;93;g24463cab762_0_76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d9b3813896_1_42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d9b3813896_1_42"/>
          <p:cNvSpPr/>
          <p:nvPr/>
        </p:nvSpPr>
        <p:spPr>
          <a:xfrm>
            <a:off x="720000" y="0"/>
            <a:ext cx="77352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lang="ru-BY" sz="12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0" name="Google Shape;100;g2d9b3813896_1_42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fld>
            <a:endParaRPr/>
          </a:p>
        </p:txBody>
      </p:sp>
      <p:sp>
        <p:nvSpPr>
          <p:cNvPr id="101" name="Google Shape;101;g2d9b3813896_1_42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4574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7994F-C3C1-F7B4-E930-1097C46FF5A1}"/>
              </a:ext>
            </a:extLst>
          </p:cNvPr>
          <p:cNvSpPr txBox="1"/>
          <p:nvPr/>
        </p:nvSpPr>
        <p:spPr>
          <a:xfrm>
            <a:off x="1791818" y="777570"/>
            <a:ext cx="536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язык программирования для создания скриптов автоматизации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2CB1E-9055-76D6-A458-D661E38DE167}"/>
              </a:ext>
            </a:extLst>
          </p:cNvPr>
          <p:cNvSpPr txBox="1"/>
          <p:nvPr/>
        </p:nvSpPr>
        <p:spPr>
          <a:xfrm>
            <a:off x="1791818" y="1344939"/>
            <a:ext cx="4732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фреймворк для управления тестами и параметризации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57C2F-28DC-284C-AC3D-32C0EB1A0487}"/>
              </a:ext>
            </a:extLst>
          </p:cNvPr>
          <p:cNvSpPr txBox="1"/>
          <p:nvPr/>
        </p:nvSpPr>
        <p:spPr>
          <a:xfrm>
            <a:off x="1791818" y="1967830"/>
            <a:ext cx="3564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Playwright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автоматизация браузерных тестов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0F543-952D-B580-FE93-94689979AC7C}"/>
              </a:ext>
            </a:extLst>
          </p:cNvPr>
          <p:cNvSpPr txBox="1"/>
          <p:nvPr/>
        </p:nvSpPr>
        <p:spPr>
          <a:xfrm>
            <a:off x="1802854" y="2522669"/>
            <a:ext cx="5553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Allure Report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инструмент для генерации красивых графических отчетов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E8DD3-97EF-281C-12A8-64CE7CA1F651}"/>
              </a:ext>
            </a:extLst>
          </p:cNvPr>
          <p:cNvSpPr txBox="1"/>
          <p:nvPr/>
        </p:nvSpPr>
        <p:spPr>
          <a:xfrm>
            <a:off x="1795875" y="3171946"/>
            <a:ext cx="5673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Git/GitHub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система контроля версий и платформа для совместной работы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48C84-D42A-0BFD-996B-30BAEF5E6406}"/>
              </a:ext>
            </a:extLst>
          </p:cNvPr>
          <p:cNvSpPr txBox="1"/>
          <p:nvPr/>
        </p:nvSpPr>
        <p:spPr>
          <a:xfrm>
            <a:off x="1798066" y="3821223"/>
            <a:ext cx="3009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контейнеризация фреймворка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 descr="Изображение выглядит как графическая вставка, символ, Графика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82573D9-F12E-4783-8AA2-3CD54AEDC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03" y="700087"/>
            <a:ext cx="431966" cy="43196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текст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16853A0-36DE-04BA-5AE6-79A01B30D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96" y="1191340"/>
            <a:ext cx="592168" cy="5921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6035BC-1060-155D-47A9-01D91646CF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744" y="1818948"/>
            <a:ext cx="566620" cy="56662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Графика, символ, круг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971FBA-3250-1A09-0C3C-5D973E239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24" y="4281134"/>
            <a:ext cx="739060" cy="7390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057672-8970-B6FD-C516-28D72E6CC6AD}"/>
              </a:ext>
            </a:extLst>
          </p:cNvPr>
          <p:cNvSpPr txBox="1"/>
          <p:nvPr/>
        </p:nvSpPr>
        <p:spPr>
          <a:xfrm>
            <a:off x="1795875" y="4512165"/>
            <a:ext cx="5510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 Actions </a:t>
            </a:r>
            <a:r>
              <a:rPr lang="ru-RU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автоматический запуск </a:t>
            </a:r>
            <a:r>
              <a:rPr lang="en-US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CI/CD </a:t>
            </a:r>
            <a:r>
              <a:rPr lang="ru-RU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пайпланов</a:t>
            </a:r>
            <a:endParaRPr lang="ru-BY" sz="1200" dirty="0"/>
          </a:p>
        </p:txBody>
      </p:sp>
      <p:pic>
        <p:nvPicPr>
          <p:cNvPr id="19" name="Рисунок 18" descr="Изображение выглядит как Графика, Красочность, круг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29B909-6567-74F2-D776-CF30CB97A4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593" y="2349623"/>
            <a:ext cx="619374" cy="61937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кот, млекопитающее, силуэ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6991BD-E3E6-A362-4A18-FFDAA2C654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053655" y="3051895"/>
            <a:ext cx="517598" cy="517598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логотип, Графика, графическая встав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3457D7-30C9-742C-189E-8B65C13053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44" y="3687333"/>
            <a:ext cx="544781" cy="544781"/>
          </a:xfrm>
          <a:prstGeom prst="rect">
            <a:avLst/>
          </a:prstGeom>
        </p:spPr>
      </p:pic>
      <p:pic>
        <p:nvPicPr>
          <p:cNvPr id="105" name="Google Shape;105;g2d9b3813896_1_42" descr="Рисунок 4"/>
          <p:cNvPicPr preferRelativeResize="0"/>
          <p:nvPr/>
        </p:nvPicPr>
        <p:blipFill rotWithShape="1">
          <a:blip r:embed="rId12">
            <a:alphaModFix/>
          </a:blip>
          <a:srcRect l="87441"/>
          <a:stretch/>
        </p:blipFill>
        <p:spPr>
          <a:xfrm>
            <a:off x="8084574" y="0"/>
            <a:ext cx="10584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85;g24463cab762_0_76">
            <a:extLst>
              <a:ext uri="{FF2B5EF4-FFF2-40B4-BE49-F238E27FC236}">
                <a16:creationId xmlns:a16="http://schemas.microsoft.com/office/drawing/2014/main" id="{45FBC883-BD49-7B58-3FAD-5E696CAE2FF1}"/>
              </a:ext>
            </a:extLst>
          </p:cNvPr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25" name="Google Shape;86;g24463cab762_0_76">
              <a:extLst>
                <a:ext uri="{FF2B5EF4-FFF2-40B4-BE49-F238E27FC236}">
                  <a16:creationId xmlns:a16="http://schemas.microsoft.com/office/drawing/2014/main" id="{18F8DD99-0798-E211-23BE-C37A349BCF71}"/>
                </a:ext>
              </a:extLst>
            </p:cNvPr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" name="Google Shape;87;g24463cab762_0_76">
              <a:extLst>
                <a:ext uri="{FF2B5EF4-FFF2-40B4-BE49-F238E27FC236}">
                  <a16:creationId xmlns:a16="http://schemas.microsoft.com/office/drawing/2014/main" id="{0B21B757-919F-3F99-596D-8B9E1D007439}"/>
                </a:ext>
              </a:extLst>
            </p:cNvPr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88;g24463cab762_0_76">
              <a:extLst>
                <a:ext uri="{FF2B5EF4-FFF2-40B4-BE49-F238E27FC236}">
                  <a16:creationId xmlns:a16="http://schemas.microsoft.com/office/drawing/2014/main" id="{ABDB15AA-230E-B1AB-578C-DCB102CEF08B}"/>
                </a:ext>
              </a:extLst>
            </p:cNvPr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bd3e5c4b55_0_24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bd3e5c4b55_0_24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2bd3e5c4b55_0_24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/>
          </a:p>
        </p:txBody>
      </p:sp>
      <p:grpSp>
        <p:nvGrpSpPr>
          <p:cNvPr id="118" name="Google Shape;118;g2bd3e5c4b55_0_24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19" name="Google Shape;119;g2bd3e5c4b55_0_24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g2bd3e5c4b55_0_24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1" name="Google Shape;121;g2bd3e5c4b55_0_24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2" name="Google Shape;122;g2bd3e5c4b55_0_24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Архитектура фреймворка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bd3e5c4b55_0_24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2bd3e5c4b55_0_24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2bd3e5c4b55_0_24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023CA4-E886-294E-DA7C-7039B6F539BE}"/>
              </a:ext>
            </a:extLst>
          </p:cNvPr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ru-RU" sz="1200" b="1" dirty="0"/>
              <a:t>Описание структуры проекта</a:t>
            </a:r>
            <a:r>
              <a:rPr lang="en-US" sz="1200" b="1" dirty="0"/>
              <a:t>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conftest.py </a:t>
            </a:r>
            <a:r>
              <a:rPr lang="en-US" sz="1200" dirty="0"/>
              <a:t>–</a:t>
            </a:r>
            <a:r>
              <a:rPr lang="ru-RU" sz="1200" dirty="0"/>
              <a:t> фикстуры и настройки </a:t>
            </a:r>
            <a:r>
              <a:rPr lang="en-US" sz="1200" dirty="0"/>
              <a:t>pytest.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pytest.ini </a:t>
            </a:r>
            <a:r>
              <a:rPr lang="en-US" sz="1200" dirty="0"/>
              <a:t>– </a:t>
            </a:r>
            <a:r>
              <a:rPr lang="ru-RU" sz="1200" dirty="0"/>
              <a:t>конфигурация тестового фреймворка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requirements.txt </a:t>
            </a:r>
            <a:r>
              <a:rPr lang="en-US" sz="1200" dirty="0"/>
              <a:t>– </a:t>
            </a:r>
            <a:r>
              <a:rPr lang="ru-RU" sz="1200" dirty="0"/>
              <a:t>зависимости проекта</a:t>
            </a:r>
            <a:r>
              <a:rPr lang="en-US" sz="1200" dirty="0"/>
              <a:t>.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Dockerfile</a:t>
            </a:r>
            <a:r>
              <a:rPr lang="en-US" sz="1200" dirty="0"/>
              <a:t> – </a:t>
            </a:r>
            <a:r>
              <a:rPr lang="ru-RU" sz="1200" dirty="0"/>
              <a:t>сборка </a:t>
            </a:r>
            <a:r>
              <a:rPr lang="en-US" sz="1200" dirty="0"/>
              <a:t>Docker-</a:t>
            </a:r>
            <a:r>
              <a:rPr lang="ru-RU" sz="1200" dirty="0"/>
              <a:t>образа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en-US" sz="1200" b="1" dirty="0"/>
              <a:t>Page Object Model: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pages/ </a:t>
            </a:r>
            <a:r>
              <a:rPr lang="en-US" sz="1200" dirty="0"/>
              <a:t>- Page Object </a:t>
            </a:r>
            <a:r>
              <a:rPr lang="ru-RU" sz="1200" dirty="0"/>
              <a:t>классы для взаимодействия со страницами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tests/ </a:t>
            </a:r>
            <a:r>
              <a:rPr lang="en-US" sz="1200" dirty="0"/>
              <a:t>- </a:t>
            </a:r>
            <a:r>
              <a:rPr lang="ru-RU" sz="1200" dirty="0"/>
              <a:t>автотесты</a:t>
            </a:r>
            <a:r>
              <a:rPr lang="en-US" sz="1200" dirty="0"/>
              <a:t>,</a:t>
            </a:r>
            <a:r>
              <a:rPr lang="ru-RU" sz="1200" dirty="0"/>
              <a:t> сгрупированные по функциональности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ru-RU" sz="1200" b="1" dirty="0"/>
              <a:t>Ключевые страницы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MainPage </a:t>
            </a:r>
            <a:r>
              <a:rPr lang="en-US" sz="1200" dirty="0"/>
              <a:t>– </a:t>
            </a:r>
            <a:r>
              <a:rPr lang="ru-RU" sz="1200" dirty="0"/>
              <a:t>главная страница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SearchPage </a:t>
            </a:r>
            <a:r>
              <a:rPr lang="en-US" sz="1200" dirty="0"/>
              <a:t>– </a:t>
            </a:r>
            <a:r>
              <a:rPr lang="ru-RU" sz="1200" dirty="0"/>
              <a:t>результаты поиска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ProductPage </a:t>
            </a:r>
            <a:r>
              <a:rPr lang="en-US" sz="1200" dirty="0"/>
              <a:t>– </a:t>
            </a:r>
            <a:r>
              <a:rPr lang="ru-RU" sz="1200" dirty="0"/>
              <a:t>карточка товара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en-US" sz="1200" b="1" dirty="0"/>
              <a:t>CI/CD:</a:t>
            </a:r>
          </a:p>
          <a:p>
            <a:pPr marL="17280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.github/workflows/ </a:t>
            </a:r>
            <a:r>
              <a:rPr lang="en-US" sz="1200" dirty="0"/>
              <a:t>- GitHub Actions </a:t>
            </a:r>
            <a:r>
              <a:rPr lang="ru-RU" sz="1200" dirty="0"/>
              <a:t>для автоматического запуска тестов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2bc48e537c7_0_219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bc48e537c7_0_219"/>
          <p:cNvSpPr/>
          <p:nvPr/>
        </p:nvSpPr>
        <p:spPr>
          <a:xfrm>
            <a:off x="720000" y="613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2bc48e537c7_0_219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/>
          </a:p>
        </p:txBody>
      </p:sp>
      <p:grpSp>
        <p:nvGrpSpPr>
          <p:cNvPr id="134" name="Google Shape;134;g2bc48e537c7_0_219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35" name="Google Shape;135;g2bc48e537c7_0_219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" name="Google Shape;136;g2bc48e537c7_0_219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g2bc48e537c7_0_219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" name="Google Shape;138;g2bc48e537c7_0_219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Структура тестов</a:t>
            </a:r>
            <a:endParaRPr sz="26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bc48e537c7_0_219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bc48e537c7_0_219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bc48e537c7_0_219"/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230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</a:rPr>
              <a:t>Фикстуры:</a:t>
            </a:r>
          </a:p>
          <a:p>
            <a:pPr marL="288000" lvl="1" indent="-2304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page </a:t>
            </a:r>
            <a:r>
              <a:rPr lang="en-US" sz="1200" dirty="0">
                <a:solidFill>
                  <a:schemeClr val="tx1"/>
                </a:solidFill>
              </a:rPr>
              <a:t>–</a:t>
            </a:r>
            <a:r>
              <a:rPr lang="en-US" sz="1200" dirty="0">
                <a:solidFill>
                  <a:srgbClr val="188038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создаёт браузер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настраивает </a:t>
            </a:r>
            <a:r>
              <a:rPr lang="en-US" sz="1200" dirty="0">
                <a:solidFill>
                  <a:schemeClr val="tx1"/>
                </a:solidFill>
              </a:rPr>
              <a:t>‘headless’ </a:t>
            </a:r>
            <a:r>
              <a:rPr lang="ru-RU" sz="1200" dirty="0">
                <a:solidFill>
                  <a:schemeClr val="tx1"/>
                </a:solidFill>
              </a:rPr>
              <a:t>и </a:t>
            </a:r>
            <a:r>
              <a:rPr lang="en-US" sz="1200" dirty="0">
                <a:solidFill>
                  <a:schemeClr val="tx1"/>
                </a:solidFill>
              </a:rPr>
              <a:t>‘slow_mo’.</a:t>
            </a:r>
          </a:p>
          <a:p>
            <a:pPr marL="288000" lvl="1" indent="-2304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is_ci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автоматически переключает режимы в </a:t>
            </a:r>
            <a:r>
              <a:rPr lang="en-US" sz="1200" dirty="0">
                <a:solidFill>
                  <a:schemeClr val="tx1"/>
                </a:solidFill>
              </a:rPr>
              <a:t>CI.</a:t>
            </a:r>
          </a:p>
          <a:p>
            <a:pPr marL="228600" lvl="1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2"/>
            </a:pPr>
            <a:r>
              <a:rPr lang="en-US" sz="1200" b="1" dirty="0">
                <a:solidFill>
                  <a:schemeClr val="tx1"/>
                </a:solidFill>
              </a:rPr>
              <a:t>Page Object Pattern:</a:t>
            </a:r>
            <a:endParaRPr lang="ru-RU" sz="1200" b="1" dirty="0">
              <a:solidFill>
                <a:schemeClr val="tx1"/>
              </a:solidFill>
            </a:endParaRPr>
          </a:p>
          <a:p>
            <a:pPr marL="2880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pages/ </a:t>
            </a:r>
            <a:r>
              <a:rPr lang="en-US" sz="1200" dirty="0">
                <a:solidFill>
                  <a:schemeClr val="tx1"/>
                </a:solidFill>
              </a:rPr>
              <a:t>- </a:t>
            </a:r>
            <a:r>
              <a:rPr lang="ru-RU" sz="1200" dirty="0">
                <a:solidFill>
                  <a:schemeClr val="tx1"/>
                </a:solidFill>
              </a:rPr>
              <a:t>классы страниц (</a:t>
            </a:r>
            <a:r>
              <a:rPr lang="en-US" sz="1200" dirty="0">
                <a:solidFill>
                  <a:schemeClr val="tx1"/>
                </a:solidFill>
              </a:rPr>
              <a:t>MainPage, SearchPage, ProductPage).</a:t>
            </a:r>
          </a:p>
          <a:p>
            <a:pPr marL="2880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BasePage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общие методы (клик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ввод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ожидание)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3"/>
            </a:pPr>
            <a:r>
              <a:rPr lang="en-US" sz="1200" b="1" dirty="0">
                <a:solidFill>
                  <a:schemeClr val="tx1"/>
                </a:solidFill>
              </a:rPr>
              <a:t>Allure </a:t>
            </a:r>
            <a:r>
              <a:rPr lang="ru-RU" sz="1200" b="1" dirty="0">
                <a:solidFill>
                  <a:schemeClr val="tx1"/>
                </a:solidFill>
              </a:rPr>
              <a:t>аннотации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@allure.epic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группировка по модулям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@allure.feature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функциональность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@allure.story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конкретный сценарий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4"/>
            </a:pPr>
            <a:r>
              <a:rPr lang="ru-RU" sz="1200" b="1" dirty="0">
                <a:solidFill>
                  <a:schemeClr val="tx1"/>
                </a:solidFill>
              </a:rPr>
              <a:t>Логирование и отладка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print()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вывод диагностической информации в консоль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188038"/>
                </a:solidFill>
              </a:rPr>
              <a:t>Параметризация </a:t>
            </a:r>
            <a:r>
              <a:rPr lang="ru-RU" sz="1200" dirty="0">
                <a:solidFill>
                  <a:schemeClr val="tx1"/>
                </a:solidFill>
              </a:rPr>
              <a:t>– один тест покрывает 5 категорий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5"/>
            </a:pPr>
            <a:r>
              <a:rPr lang="ru-RU" sz="1200" b="1" dirty="0">
                <a:solidFill>
                  <a:schemeClr val="tx1"/>
                </a:solidFill>
              </a:rPr>
              <a:t>Проверки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5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assert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конкретные проверки (статус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текст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видимость</a:t>
            </a:r>
            <a:r>
              <a:rPr lang="en-US" sz="1200" dirty="0">
                <a:solidFill>
                  <a:schemeClr val="tx1"/>
                </a:solidFill>
              </a:rPr>
              <a:t>).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142" name="Google Shape;142;g2bc48e537c7_0_219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24463cab762_0_136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4463cab762_0_136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4463cab762_0_136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/>
          </a:p>
        </p:txBody>
      </p:sp>
      <p:grpSp>
        <p:nvGrpSpPr>
          <p:cNvPr id="150" name="Google Shape;150;g24463cab762_0_136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51" name="Google Shape;151;g24463cab762_0_136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g24463cab762_0_136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g24463cab762_0_136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4" name="Google Shape;154;g24463cab762_0_136"/>
          <p:cNvSpPr txBox="1">
            <a:spLocks noGrp="1"/>
          </p:cNvSpPr>
          <p:nvPr>
            <p:ph type="title"/>
          </p:nvPr>
        </p:nvSpPr>
        <p:spPr>
          <a:xfrm>
            <a:off x="720001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Allure Report отчет 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24463cab762_0_136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876EF51-D2C5-2C3E-C4DE-57D1EF127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196" y="841945"/>
            <a:ext cx="5913160" cy="3459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d9b3813896_1_20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d9b3813896_1_20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fld>
            <a:endParaRPr/>
          </a:p>
        </p:txBody>
      </p:sp>
      <p:grpSp>
        <p:nvGrpSpPr>
          <p:cNvPr id="164" name="Google Shape;164;g2d9b3813896_1_20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65" name="Google Shape;165;g2d9b3813896_1_20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" name="Google Shape;166;g2d9b3813896_1_20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" name="Google Shape;167;g2d9b3813896_1_20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8" name="Google Shape;168;g2d9b3813896_1_20"/>
          <p:cNvSpPr txBox="1">
            <a:spLocks noGrp="1"/>
          </p:cNvSpPr>
          <p:nvPr>
            <p:ph type="title"/>
          </p:nvPr>
        </p:nvSpPr>
        <p:spPr>
          <a:xfrm>
            <a:off x="2019043" y="2293350"/>
            <a:ext cx="4075644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2d9b3813896_1_20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573</Words>
  <Application>Microsoft Office PowerPoint</Application>
  <PresentationFormat>Экран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Comfortaa</vt:lpstr>
      <vt:lpstr>Courier New</vt:lpstr>
      <vt:lpstr>Roboto</vt:lpstr>
      <vt:lpstr>Arial</vt:lpstr>
      <vt:lpstr>Calibri</vt:lpstr>
      <vt:lpstr>Helvetica Neue</vt:lpstr>
      <vt:lpstr>Raleway</vt:lpstr>
      <vt:lpstr>Montserrat</vt:lpstr>
      <vt:lpstr>Тема Office</vt:lpstr>
      <vt:lpstr>Презентация PowerPoint</vt:lpstr>
      <vt:lpstr>Описание проекта</vt:lpstr>
      <vt:lpstr>Чек-лист для проекта wildberries.by</vt:lpstr>
      <vt:lpstr>Технологии</vt:lpstr>
      <vt:lpstr>Архитектура фреймворка</vt:lpstr>
      <vt:lpstr>Структура тестов</vt:lpstr>
      <vt:lpstr>Allure Report отчет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lyosha o</dc:creator>
  <cp:lastModifiedBy>lyosha o</cp:lastModifiedBy>
  <cp:revision>9</cp:revision>
  <dcterms:modified xsi:type="dcterms:W3CDTF">2026-07-21T13:11:54Z</dcterms:modified>
</cp:coreProperties>
</file>